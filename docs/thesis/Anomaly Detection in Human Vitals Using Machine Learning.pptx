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2" r:id="rId5"/>
    <p:sldId id="268" r:id="rId6"/>
    <p:sldId id="262" r:id="rId7"/>
    <p:sldId id="261" r:id="rId8"/>
    <p:sldId id="264" r:id="rId9"/>
    <p:sldId id="275" r:id="rId10"/>
    <p:sldId id="277" r:id="rId11"/>
    <p:sldId id="279" r:id="rId12"/>
    <p:sldId id="278" r:id="rId13"/>
    <p:sldId id="281" r:id="rId14"/>
    <p:sldId id="282" r:id="rId15"/>
    <p:sldId id="280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0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580E-BB12-458A-8A67-A4E85A97E57A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85773-E831-40C3-B08E-FE9BDAA69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5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E162AE6-C2BA-4446-A2D9-41A8F1A6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A267802-5F0D-4EE1-AF9D-EF2E4F23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5" y="0"/>
            <a:ext cx="43861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728D93-929A-4CAF-A102-3C217E91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</a:lstStyle>
          <a:p>
            <a:pPr>
              <a:tabLst>
                <a:tab pos="3370263" algn="l"/>
              </a:tabLst>
            </a:pPr>
            <a:r>
              <a:rPr lang="en-US" sz="4000">
                <a:solidFill>
                  <a:schemeClr val="tx2">
                    <a:alpha val="75000"/>
                  </a:schemeClr>
                </a:solidFill>
              </a:rPr>
              <a:t>Click to edit Master title style</a:t>
            </a:r>
            <a:endParaRPr lang="en-US" sz="4000" dirty="0">
              <a:solidFill>
                <a:schemeClr val="tx2">
                  <a:alpha val="75000"/>
                </a:schemeClr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81702E9-0038-4210-9FAB-E76C1EF85C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4876" y="5116529"/>
            <a:ext cx="2948684" cy="955497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E1655C-FA7C-42D9-8EE1-E7CF698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47479" y="3853642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441E9C-E7AE-4B2E-A8FF-F364980D9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3024" y="0"/>
            <a:ext cx="7808976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8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0" userDrawn="1">
          <p15:clr>
            <a:srgbClr val="FBAE40"/>
          </p15:clr>
        </p15:guide>
        <p15:guide id="2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5A6970-043A-47D8-B545-755078B0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6AC1DD3-428F-4C39-A551-E13ABD51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</p:spPr>
        <p:txBody>
          <a:bodyPr>
            <a:normAutofit/>
          </a:bodyPr>
          <a:lstStyle/>
          <a:p>
            <a:pPr algn="r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61C8BF-A13F-41C7-AD96-FF1FF2487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44305"/>
            <a:ext cx="0" cy="1610436"/>
          </a:xfrm>
          <a:prstGeom prst="line">
            <a:avLst/>
          </a:prstGeom>
          <a:ln w="19050">
            <a:solidFill>
              <a:schemeClr val="accent1">
                <a:lumMod val="7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8B2C18-58F4-4964-8F53-1A6C5CA46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647700"/>
            <a:ext cx="6401231" cy="2982604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AF7978-E274-4580-9576-25C42D06B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512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26149A3-CFBC-4F7F-B065-171177885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16041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47CA6D41-6659-4919-BF3F-FCA2AB53F4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457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E6777B-4AD1-427E-904E-21086E7318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310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E0D4C96-36DA-4C90-B4F7-FD78F9F0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CC27624-76B0-4BB8-B6D9-C01BCCE6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5D71582-7D60-491E-945E-00A9A6A2E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283E6C1-A698-44ED-B112-2185C527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8DA9715-F69D-45C0-8C20-D2327172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 wrap="none" anchor="ctr">
            <a:noAutofit/>
          </a:bodyPr>
          <a:lstStyle>
            <a:lvl1pPr algn="l">
              <a:spcBef>
                <a:spcPts val="0"/>
              </a:spcBef>
              <a:defRPr baseline="0"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11834F-2E86-44CF-9B7B-879C54D3E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164" y="1900962"/>
            <a:ext cx="10112375" cy="1954213"/>
          </a:xfrm>
        </p:spPr>
        <p:txBody>
          <a:bodyPr anchor="t"/>
          <a:lstStyle>
            <a:lvl1pPr marL="0" indent="0" algn="just">
              <a:buNone/>
              <a:defRPr baseline="0"/>
            </a:lvl1pPr>
            <a:lvl2pPr marL="274320" indent="0" algn="ctr">
              <a:buFont typeface="Arial" panose="020B0604020202020204" pitchFamily="34" charset="0"/>
              <a:buNone/>
              <a:defRPr/>
            </a:lvl2pPr>
            <a:lvl3pPr marL="228600" indent="0" algn="ctr">
              <a:buNone/>
              <a:defRPr/>
            </a:lvl3pPr>
            <a:lvl4pPr marL="640080" indent="0" algn="ctr">
              <a:buFont typeface="Arial" panose="020B0604020202020204" pitchFamily="34" charset="0"/>
              <a:buNone/>
              <a:defRPr/>
            </a:lvl4pPr>
            <a:lvl5pPr marL="685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6B13C98-6A68-488A-A861-3651BEFFD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60520"/>
            <a:ext cx="4067175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938ABF9-B914-4702-BD3C-440D785C4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8DDEC8E-7A5B-45B1-87C2-928F65F6D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9936" y="4160520"/>
            <a:ext cx="4133088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D694128-BF72-4548-B72F-CAFBFD234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E558F1D-66DC-426F-B815-D10EB6BC4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4" y="4160520"/>
            <a:ext cx="4005072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C1452B-8D51-4F49-9A26-8D49BCE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50899" y="1555564"/>
            <a:ext cx="4290204" cy="0"/>
          </a:xfrm>
          <a:prstGeom prst="line">
            <a:avLst/>
          </a:prstGeom>
          <a:ln w="19050">
            <a:solidFill>
              <a:schemeClr val="accen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8719BE9-7631-4214-B581-04437DDA5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AF1EB8-173E-4BDF-9FB9-340DC5FC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4A6C40-5A2B-4859-A8AE-52464ACB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5059252"/>
            <a:ext cx="6874327" cy="1209275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r"/>
            <a:r>
              <a:rPr lang="en-US" sz="4000"/>
              <a:t>Click to edit Master title style</a:t>
            </a:r>
            <a:endParaRPr lang="en-US" sz="4000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839C935-8C88-4E41-9CDE-772FDA3D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70" y="5056632"/>
            <a:ext cx="3392445" cy="1207008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r>
              <a:rPr lang="en-US" sz="1600"/>
              <a:t>Click to edit Master subtitle style</a:t>
            </a:r>
            <a:endParaRPr lang="en-US" sz="1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C6FCBF-78C9-4160-8C8D-C0846C6D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10499" y="5187442"/>
            <a:ext cx="0" cy="875607"/>
          </a:xfrm>
          <a:prstGeom prst="line">
            <a:avLst/>
          </a:prstGeom>
          <a:ln w="15875">
            <a:solidFill>
              <a:schemeClr val="accent1">
                <a:lumMod val="75000"/>
                <a:alpha val="8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950CA0E-635B-46DC-8900-0DD2B472A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562856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3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56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31BABDF-AA85-4A10-A98B-507CF2428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8717800-ADD4-4E93-B0D0-271E7848D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AC3ECC-84E8-497F-BC52-5189149B0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9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3"/>
            <a:ext cx="10515600" cy="3545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1976FF6-0FAE-4806-A07E-BE4D7411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42FFD90-937D-4551-9F0C-7A5B0C78E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D25ED3-40D6-4D4C-BEF6-506E3E3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8FC83D-BE6C-46F7-A2C9-654DF8EB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33" y="1679441"/>
            <a:ext cx="10890565" cy="589966"/>
          </a:xfrm>
        </p:spPr>
        <p:txBody>
          <a:bodyPr>
            <a:normAutofit fontScale="90000"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C3F9D0-953E-45A7-BFD7-C86C68B2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726" y="2273661"/>
            <a:ext cx="7910623" cy="447630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36BCE2-FC35-4992-A912-AF5A5C4E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507004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AA409B-17E7-4D49-8F3B-D390302E24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4FB1A9C-83D8-426D-B62B-A5F7457A96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7920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DD44DD-0676-4A2C-9EC4-8E209307E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69BC53C-DA37-4270-B44D-B7A92152A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FE14D8-0C2B-4AA6-AE7E-75C2C63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255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9828424-127F-4F45-AF20-1DAA15255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D83CCE-F7E1-4106-84E1-6C261DDBB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8126735-73E8-4B98-81A3-AAE94B69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AC2D8E-199B-430A-BB5F-3EB5B76D6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AAF529-3AC9-470F-8794-0C496708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3327F51-D49D-4DCE-9CDC-3B94731A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1B2486D-C49D-471B-8F3B-AF604894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F226F4B-CA41-4C71-97F3-1B7E442A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6A3FD-0E7B-4247-AA4F-93E7E99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3200400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800575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385125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66A9EA3-4B2B-44BD-8135-846BF6026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4" y="1802952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1C28FB9-37EE-45F6-9277-9FEC0E6CE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4" y="2387502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965917B-0400-40F0-91DA-4F97FE7238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64A176B-530D-46DF-8C22-CB3E325D3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64458CC-87E8-440C-A9E9-D8E1E0B49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01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D479CE-2DE1-4800-948F-385C3CF2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F2DE27B3-A066-47FC-9ACB-6CB080C4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B2E2283-471F-4157-98F4-1943DA1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1" y="2688119"/>
            <a:ext cx="5115674" cy="3507457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F58127D-BBD9-4655-BEA6-91021785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8272" y="65836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4E959CE-E323-4F7E-9D53-6DE5DD8650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8272" y="358444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F4C50B-50BD-44F1-9148-992E83F5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25809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764E3EF-900F-4400-84C4-63FBEBB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E1CB21E-42E2-4942-BCAD-66952AAB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BDF6841-1F86-481B-A857-4E5AC267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128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FD219BD-0F2E-4CDF-AEB4-C1D73E0F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1A909C9B-71E1-4575-BD94-8C51142F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3B6580BC-B32B-4393-8B19-2B3F6B90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07FB4E-AACE-4322-82D4-4DA4A81616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048" y="0"/>
            <a:ext cx="7616952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A4665-3BE9-407E-884C-8EA28708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2099" y="2302005"/>
            <a:ext cx="2253018" cy="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6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350" y="4846921"/>
            <a:ext cx="6632107" cy="951488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67985"/>
            <a:ext cx="6172200" cy="49930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B555E-8FF5-457E-B328-53ABDB5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64ED7-3275-4F98-88B1-4F083251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459"/>
            <a:ext cx="10515600" cy="434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BCFA-771C-4297-8ACE-974191C7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17DE-CC16-4596-92A2-460BC081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E724-AEC3-4D96-A62C-C286B703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1" r:id="rId4"/>
    <p:sldLayoutId id="2147483650" r:id="rId5"/>
    <p:sldLayoutId id="2147483671" r:id="rId6"/>
    <p:sldLayoutId id="2147483670" r:id="rId7"/>
    <p:sldLayoutId id="2147483672" r:id="rId8"/>
    <p:sldLayoutId id="2147483654" r:id="rId9"/>
    <p:sldLayoutId id="2147483653" r:id="rId10"/>
    <p:sldLayoutId id="2147483667" r:id="rId11"/>
    <p:sldLayoutId id="2147483668" r:id="rId12"/>
    <p:sldLayoutId id="2147483669" r:id="rId13"/>
    <p:sldLayoutId id="2147483649" r:id="rId14"/>
    <p:sldLayoutId id="2147483651" r:id="rId15"/>
    <p:sldLayoutId id="2147483652" r:id="rId16"/>
    <p:sldLayoutId id="2147483655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5A3385-7A97-4B91-90E4-313A5F648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4"/>
            <a:ext cx="10072129" cy="149822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Anomaly Detection in Human Vitals Using Machine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3A620-F7EA-6CA4-9D17-C8AFA42BBDBD}"/>
              </a:ext>
            </a:extLst>
          </p:cNvPr>
          <p:cNvSpPr txBox="1"/>
          <p:nvPr/>
        </p:nvSpPr>
        <p:spPr>
          <a:xfrm>
            <a:off x="684361" y="4930877"/>
            <a:ext cx="40803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Name: Eswar Surya </a:t>
            </a:r>
            <a:r>
              <a:rPr lang="en-US" dirty="0" err="1"/>
              <a:t>Danaboina</a:t>
            </a:r>
            <a:endParaRPr lang="en-US" dirty="0"/>
          </a:p>
          <a:p>
            <a:r>
              <a:rPr lang="en-US" dirty="0"/>
              <a:t>Student ID: 20061702</a:t>
            </a:r>
          </a:p>
          <a:p>
            <a:r>
              <a:rPr lang="en-US" dirty="0"/>
              <a:t>Supervisor: </a:t>
            </a:r>
            <a:r>
              <a:rPr lang="en-IN" b="1" dirty="0"/>
              <a:t>Muhammad Asad</a:t>
            </a:r>
          </a:p>
          <a:p>
            <a:r>
              <a:rPr lang="en-US" dirty="0"/>
              <a:t>Institution: Dublin Business School</a:t>
            </a:r>
          </a:p>
          <a:p>
            <a:r>
              <a:rPr lang="en-US" dirty="0"/>
              <a:t>Year: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6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 Placeholder 75">
            <a:extLst>
              <a:ext uri="{FF2B5EF4-FFF2-40B4-BE49-F238E27FC236}">
                <a16:creationId xmlns:a16="http://schemas.microsoft.com/office/drawing/2014/main" id="{4FCE912F-09D6-4C14-A807-126C32B03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80BF14-E472-3C3F-F786-BAB64B038AA0}"/>
              </a:ext>
            </a:extLst>
          </p:cNvPr>
          <p:cNvSpPr txBox="1"/>
          <p:nvPr/>
        </p:nvSpPr>
        <p:spPr>
          <a:xfrm>
            <a:off x="619432" y="609600"/>
            <a:ext cx="531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Introduction &amp; Problem Statement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15E221-9A09-A8C1-2F16-BDC0721859B6}"/>
              </a:ext>
            </a:extLst>
          </p:cNvPr>
          <p:cNvSpPr txBox="1"/>
          <p:nvPr/>
        </p:nvSpPr>
        <p:spPr>
          <a:xfrm>
            <a:off x="5574890" y="1750142"/>
            <a:ext cx="57027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monitoring of human vital signs is critical in modern 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monitoring is time-consuming and prone to human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Abnormal physiological patterns may indicate early health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need for an automated, scalable, and interpretable anomaly detection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abnormal vital sign patterns without labelled medical data is challenging.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2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F09696C5-2D5D-4774-8ED7-53F2BB60D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80C0B5-059E-35B9-9D52-24DDD0E6932D}"/>
              </a:ext>
            </a:extLst>
          </p:cNvPr>
          <p:cNvSpPr txBox="1"/>
          <p:nvPr/>
        </p:nvSpPr>
        <p:spPr>
          <a:xfrm>
            <a:off x="1111045" y="766916"/>
            <a:ext cx="833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Research Aim &amp; Objectives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438AB5-7C85-5F9C-1204-D08D2676EC41}"/>
              </a:ext>
            </a:extLst>
          </p:cNvPr>
          <p:cNvSpPr txBox="1"/>
          <p:nvPr/>
        </p:nvSpPr>
        <p:spPr>
          <a:xfrm>
            <a:off x="5772091" y="1831258"/>
            <a:ext cx="55029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Research Aim</a:t>
            </a:r>
          </a:p>
          <a:p>
            <a:r>
              <a:rPr lang="en-US" dirty="0"/>
              <a:t>To develop an explainable machine learning framework for detecting anomalies in human vital signs.</a:t>
            </a:r>
          </a:p>
          <a:p>
            <a:endParaRPr lang="en-US" dirty="0"/>
          </a:p>
          <a:p>
            <a:r>
              <a:rPr lang="en-US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Analyse</a:t>
            </a:r>
            <a:r>
              <a:rPr lang="en-US" dirty="0"/>
              <a:t> multivariate human vital signs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an unsupervised anomaly detection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 abnormal health patterns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explainability for model decisions using SHAP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Visualise</a:t>
            </a:r>
            <a:r>
              <a:rPr lang="en-US" dirty="0"/>
              <a:t> and interpret anomaly 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43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F3DA656-C448-688B-9C80-1636DC1376FF}"/>
              </a:ext>
            </a:extLst>
          </p:cNvPr>
          <p:cNvSpPr txBox="1"/>
          <p:nvPr/>
        </p:nvSpPr>
        <p:spPr>
          <a:xfrm>
            <a:off x="1012722" y="845574"/>
            <a:ext cx="7216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Dataset 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122B4-5586-BCAD-AC5F-228C9C06E0FC}"/>
              </a:ext>
            </a:extLst>
          </p:cNvPr>
          <p:cNvSpPr txBox="1"/>
          <p:nvPr/>
        </p:nvSpPr>
        <p:spPr>
          <a:xfrm>
            <a:off x="5987845" y="1632155"/>
            <a:ext cx="47981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dataset contains physiological and demographic features, including: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Respiratory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Body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Oxygen Saturation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Systolic and Diastolic Blood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Age, Gender, Height,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Derived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BMI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Heart Rate Variability (HRV)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Mean Arterial Pressure (MAP)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Pulse Pressure</a:t>
            </a:r>
          </a:p>
          <a:p>
            <a:endParaRPr lang="en-US" dirty="0"/>
          </a:p>
          <a:p>
            <a:r>
              <a:rPr lang="en-US" dirty="0"/>
              <a:t>The dataset is large-scale and suitable for unsupervised learning.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18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26602CE-71BA-46A4-8EEE-854AA7520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97050-B5B7-4C96-96A4-2049D856ACDA}"/>
              </a:ext>
            </a:extLst>
          </p:cNvPr>
          <p:cNvSpPr txBox="1"/>
          <p:nvPr/>
        </p:nvSpPr>
        <p:spPr>
          <a:xfrm>
            <a:off x="983226" y="1150374"/>
            <a:ext cx="6233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Methodology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899E6-E408-9776-619A-7BA77C5A8327}"/>
              </a:ext>
            </a:extLst>
          </p:cNvPr>
          <p:cNvSpPr txBox="1"/>
          <p:nvPr/>
        </p:nvSpPr>
        <p:spPr>
          <a:xfrm>
            <a:off x="6096000" y="1936954"/>
            <a:ext cx="48669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overall workflow followed in this project: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loading and cleaning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Feature selection and </a:t>
            </a:r>
            <a:r>
              <a:rPr lang="en-US" dirty="0" err="1"/>
              <a:t>normalisation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Anomaly detection using Isolation Forest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Identification of anomalous observations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Explainability using SHAP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Visual analysis of results</a:t>
            </a:r>
          </a:p>
          <a:p>
            <a:endParaRPr lang="en-US" dirty="0"/>
          </a:p>
          <a:p>
            <a:r>
              <a:rPr lang="en-US" dirty="0"/>
              <a:t>This pipeline ensures both performance and interpretability.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93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66335940-4EDC-4550-8115-003BDF496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6CC09-AFD0-875B-0D12-E0008D69815D}"/>
              </a:ext>
            </a:extLst>
          </p:cNvPr>
          <p:cNvSpPr txBox="1"/>
          <p:nvPr/>
        </p:nvSpPr>
        <p:spPr>
          <a:xfrm>
            <a:off x="845574" y="1130710"/>
            <a:ext cx="5604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Why Isolation Forest?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8C1F6-F2A2-62B3-7DEA-614FDA2F7D6B}"/>
              </a:ext>
            </a:extLst>
          </p:cNvPr>
          <p:cNvSpPr txBox="1"/>
          <p:nvPr/>
        </p:nvSpPr>
        <p:spPr>
          <a:xfrm>
            <a:off x="6951406" y="1927123"/>
            <a:ext cx="47489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Isolation Forest was selected because: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an unsupervised learning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labelled anomaly data is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for large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Detects anomalies by isolating rare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Widely used in healthcare and anomaly detection research</a:t>
            </a:r>
          </a:p>
          <a:p>
            <a:endParaRPr lang="en-US" dirty="0"/>
          </a:p>
          <a:p>
            <a:r>
              <a:rPr lang="en-US" dirty="0"/>
              <a:t>This makes it suitable for real-world medical data scenarios.</a:t>
            </a:r>
          </a:p>
        </p:txBody>
      </p:sp>
    </p:spTree>
    <p:extLst>
      <p:ext uri="{BB962C8B-B14F-4D97-AF65-F5344CB8AC3E}">
        <p14:creationId xmlns:p14="http://schemas.microsoft.com/office/powerpoint/2010/main" val="335898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EF9D9A-3623-5A7E-8983-924B9ABA8389}"/>
              </a:ext>
            </a:extLst>
          </p:cNvPr>
          <p:cNvSpPr txBox="1"/>
          <p:nvPr/>
        </p:nvSpPr>
        <p:spPr>
          <a:xfrm>
            <a:off x="485775" y="647700"/>
            <a:ext cx="3680395" cy="1403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>
                    <a:alpha val="75000"/>
                  </a:schemeClr>
                </a:solidFill>
                <a:latin typeface="+mj-lt"/>
                <a:ea typeface="+mj-ea"/>
                <a:cs typeface="+mj-cs"/>
              </a:rPr>
              <a:t>Anomaly Detection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20583-9C07-70C9-6207-8690947E3F57}"/>
              </a:ext>
            </a:extLst>
          </p:cNvPr>
          <p:cNvSpPr txBox="1"/>
          <p:nvPr/>
        </p:nvSpPr>
        <p:spPr>
          <a:xfrm>
            <a:off x="647701" y="2683104"/>
            <a:ext cx="3364358" cy="36732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9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The model classifies observations as normal or anomalous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9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Red points represent detected anomalies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9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Abnormal heart rate values are clearly isolated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9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Demonstrates effective separation between normal and abnormal patterns</a:t>
            </a:r>
          </a:p>
        </p:txBody>
      </p:sp>
      <p:pic>
        <p:nvPicPr>
          <p:cNvPr id="12" name="Picture 11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F154D9AE-AB6C-8601-DC39-4A895CD4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48" y="1743749"/>
            <a:ext cx="7616952" cy="3370501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1AA6-AD91-A19A-1423-D780DCDE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208ADF-3ADD-483D-A721-14E3EEE2C13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8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0C61D4-16EC-B870-61F3-23AEA75C3380}"/>
              </a:ext>
            </a:extLst>
          </p:cNvPr>
          <p:cNvSpPr txBox="1"/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>
                    <a:alpha val="75000"/>
                  </a:schemeClr>
                </a:solidFill>
                <a:latin typeface="+mj-lt"/>
                <a:ea typeface="+mj-ea"/>
                <a:cs typeface="+mj-cs"/>
              </a:rPr>
              <a:t>Model Explainability Using SHAP</a:t>
            </a:r>
          </a:p>
        </p:txBody>
      </p:sp>
      <p:pic>
        <p:nvPicPr>
          <p:cNvPr id="10" name="Picture 9" descr="A graph of different types of blood pressure&#10;&#10;AI-generated content may be incorrect.">
            <a:extLst>
              <a:ext uri="{FF2B5EF4-FFF2-40B4-BE49-F238E27FC236}">
                <a16:creationId xmlns:a16="http://schemas.microsoft.com/office/drawing/2014/main" id="{2EC78E21-6C88-A050-BB24-5EB1B44A3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190" y="867985"/>
            <a:ext cx="5874195" cy="4993066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377CAB-7E26-62DB-9E3A-CC365CA61BE0}"/>
              </a:ext>
            </a:extLst>
          </p:cNvPr>
          <p:cNvSpPr txBox="1"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SHAP explains the contribution of each feature to anomaly detection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High-impact features include:</a:t>
            </a:r>
          </a:p>
          <a:p>
            <a:pPr marL="742950" lvl="1" indent="-28575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Body Temperature</a:t>
            </a:r>
          </a:p>
          <a:p>
            <a:pPr marL="742950" lvl="1" indent="-28575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Derived BMI</a:t>
            </a:r>
          </a:p>
          <a:p>
            <a:pPr marL="742950" lvl="1" indent="-28575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HRV</a:t>
            </a:r>
          </a:p>
          <a:p>
            <a:pPr marL="742950" lvl="1" indent="-28575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Respiratory Rate</a:t>
            </a:r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endParaRPr lang="en-US" sz="1600" kern="1200" spc="100" baseline="0" dirty="0">
              <a:solidFill>
                <a:schemeClr val="tx1">
                  <a:alpha val="85000"/>
                </a:schemeClr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sz="1600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This improves trust and transparency in medical decision-making.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5D05B491-C02A-65CC-7520-6159CD90D6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E208ADF-3ADD-483D-A721-14E3EEE2C13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94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5FC036-30C0-3895-F97B-A1AAE89C64B4}"/>
              </a:ext>
            </a:extLst>
          </p:cNvPr>
          <p:cNvSpPr txBox="1"/>
          <p:nvPr/>
        </p:nvSpPr>
        <p:spPr>
          <a:xfrm>
            <a:off x="647701" y="1375939"/>
            <a:ext cx="5448300" cy="124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>
                    <a:alpha val="75000"/>
                  </a:schemeClr>
                </a:solidFill>
                <a:latin typeface="+mj-lt"/>
                <a:ea typeface="+mj-ea"/>
                <a:cs typeface="+mj-cs"/>
              </a:rPr>
              <a:t>Additional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CEA40-67C9-E1CB-2D48-02C9D1828292}"/>
              </a:ext>
            </a:extLst>
          </p:cNvPr>
          <p:cNvSpPr txBox="1"/>
          <p:nvPr/>
        </p:nvSpPr>
        <p:spPr>
          <a:xfrm>
            <a:off x="635001" y="2688119"/>
            <a:ext cx="5115674" cy="3507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Risk-based anomaly distribution analysis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Gender-wise and temporal anomaly trends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Correlation analysis between vital signs</a:t>
            </a:r>
          </a:p>
          <a:p>
            <a:pPr>
              <a:lnSpc>
                <a:spcPct val="120000"/>
              </a:lnSpc>
              <a:spcBef>
                <a:spcPts val="1000"/>
              </a:spcBef>
              <a:buSzPct val="80000"/>
            </a:pPr>
            <a:endParaRPr lang="en-US" kern="1200" spc="100" baseline="0" dirty="0">
              <a:solidFill>
                <a:schemeClr val="tx1">
                  <a:alpha val="85000"/>
                </a:schemeClr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SzPct val="80000"/>
            </a:pPr>
            <a:r>
              <a:rPr lang="en-US" kern="1200" spc="100" baseline="0" dirty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rPr>
              <a:t>These analyses support deeper clinical interpretation.</a:t>
            </a:r>
          </a:p>
        </p:txBody>
      </p:sp>
      <p:pic>
        <p:nvPicPr>
          <p:cNvPr id="14" name="Picture 13" descr="A graph showing the distribution of risk&#10;&#10;AI-generated content may be incorrect.">
            <a:extLst>
              <a:ext uri="{FF2B5EF4-FFF2-40B4-BE49-F238E27FC236}">
                <a16:creationId xmlns:a16="http://schemas.microsoft.com/office/drawing/2014/main" id="{6C6A8A04-6653-3CD5-0B5C-7E2A35B7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73" r="-3" b="17660"/>
          <a:stretch>
            <a:fillRect/>
          </a:stretch>
        </p:blipFill>
        <p:spPr>
          <a:xfrm>
            <a:off x="6748272" y="658368"/>
            <a:ext cx="4809744" cy="2606040"/>
          </a:xfrm>
          <a:prstGeom prst="rect">
            <a:avLst/>
          </a:prstGeom>
          <a:noFill/>
        </p:spPr>
      </p:pic>
      <p:pic>
        <p:nvPicPr>
          <p:cNvPr id="16" name="Picture 15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44C0EF23-1116-F95B-7964-7EDACD886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67" r="-3" b="24428"/>
          <a:stretch>
            <a:fillRect/>
          </a:stretch>
        </p:blipFill>
        <p:spPr>
          <a:xfrm>
            <a:off x="6748272" y="3584448"/>
            <a:ext cx="4809744" cy="2606040"/>
          </a:xfrm>
          <a:prstGeom prst="rect">
            <a:avLst/>
          </a:prstGeom>
          <a:noFill/>
        </p:spPr>
      </p:pic>
      <p:sp>
        <p:nvSpPr>
          <p:cNvPr id="21" name="Date Placeholder 5">
            <a:extLst>
              <a:ext uri="{FF2B5EF4-FFF2-40B4-BE49-F238E27FC236}">
                <a16:creationId xmlns:a16="http://schemas.microsoft.com/office/drawing/2014/main" id="{6BA6C3AC-D04F-9BD7-0CD6-6C58950F7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DD26F452-C1EE-8024-09DB-B24CC3914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718C6-35BE-9488-62C5-A51FCA097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208ADF-3ADD-483D-A721-14E3EEE2C13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0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17DE13-E6C4-DC6E-7B7A-43224CD2C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AAABF-8C27-8539-09B1-BD42EC86B3A6}"/>
              </a:ext>
            </a:extLst>
          </p:cNvPr>
          <p:cNvSpPr txBox="1"/>
          <p:nvPr/>
        </p:nvSpPr>
        <p:spPr>
          <a:xfrm>
            <a:off x="1297858" y="1229032"/>
            <a:ext cx="4798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Key Findings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75AEE-E017-DA31-B9B7-9F84AAB3E48F}"/>
              </a:ext>
            </a:extLst>
          </p:cNvPr>
          <p:cNvSpPr txBox="1"/>
          <p:nvPr/>
        </p:nvSpPr>
        <p:spPr>
          <a:xfrm>
            <a:off x="6892413" y="1956619"/>
            <a:ext cx="44343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Isolation Forest successfully detects anomalous vital sign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SHAP provides clear explanations for model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Derived physiological features significantly influence anomaly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framework balances accuracy and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223182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4BE86-4EDE-754A-5C2E-EF1818B53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79982-04D3-7A35-4698-53C8D6BC2791}"/>
              </a:ext>
            </a:extLst>
          </p:cNvPr>
          <p:cNvSpPr txBox="1"/>
          <p:nvPr/>
        </p:nvSpPr>
        <p:spPr>
          <a:xfrm>
            <a:off x="993058" y="1327355"/>
            <a:ext cx="6174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Limitations &amp; Future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FC255-FAFE-C3F3-4B32-2BBC08D942E4}"/>
              </a:ext>
            </a:extLst>
          </p:cNvPr>
          <p:cNvSpPr txBox="1"/>
          <p:nvPr/>
        </p:nvSpPr>
        <p:spPr>
          <a:xfrm>
            <a:off x="6636774" y="2391324"/>
            <a:ext cx="48964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ground truth labels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is synthetic / simulated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evaluated in real-time clinical settings</a:t>
            </a:r>
          </a:p>
          <a:p>
            <a:endParaRPr lang="en-US" dirty="0"/>
          </a:p>
          <a:p>
            <a:r>
              <a:rPr lang="en-US" dirty="0"/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real hospital or wearable device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with deep learning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real-time alert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Clinical validation with healthcare professionals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442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01CEC-75B2-A479-F50E-69CA930C0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DC7C8-AA43-E7FB-92A0-1F0BD94AB793}"/>
              </a:ext>
            </a:extLst>
          </p:cNvPr>
          <p:cNvSpPr txBox="1"/>
          <p:nvPr/>
        </p:nvSpPr>
        <p:spPr>
          <a:xfrm>
            <a:off x="845574" y="1219200"/>
            <a:ext cx="5643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FA1F5-B093-2359-86B5-47F4C1334D90}"/>
              </a:ext>
            </a:extLst>
          </p:cNvPr>
          <p:cNvSpPr txBox="1"/>
          <p:nvPr/>
        </p:nvSpPr>
        <p:spPr>
          <a:xfrm>
            <a:off x="5535561" y="2143432"/>
            <a:ext cx="56437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explainable anomaly detection framework was successfully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approach effectively identifies abnormal health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transparency makes it suitable for healthcare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has strong potential for early warning health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912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E449-E96C-4E0E-A449-9E0701A9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42" y="962332"/>
            <a:ext cx="3680395" cy="140334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alpha val="75000"/>
                  </a:schemeClr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F7967-21CD-4D4E-A475-5040D50F9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818" y="3043109"/>
            <a:ext cx="3680394" cy="367324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alpha val="85000"/>
                  </a:schemeClr>
                </a:solidFill>
              </a:rPr>
              <a:t>Eswar Surya </a:t>
            </a:r>
            <a:r>
              <a:rPr lang="en-US" dirty="0" err="1">
                <a:solidFill>
                  <a:schemeClr val="tx1">
                    <a:alpha val="85000"/>
                  </a:schemeClr>
                </a:solidFill>
              </a:rPr>
              <a:t>Danaboina</a:t>
            </a:r>
            <a:endParaRPr lang="en-US" dirty="0">
              <a:solidFill>
                <a:schemeClr val="tx1">
                  <a:alpha val="8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alpha val="85000"/>
                  </a:schemeClr>
                </a:solidFill>
              </a:rPr>
              <a:t>eswarsurya89@gmail.com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95B4304-0747-4AD1-BD3D-E4BFD544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7044"/>
      </p:ext>
    </p:extLst>
  </p:cSld>
  <p:clrMapOvr>
    <a:masterClrMapping/>
  </p:clrMapOvr>
</p:sld>
</file>

<file path=ppt/theme/theme1.xml><?xml version="1.0" encoding="utf-8"?>
<a:theme xmlns:a="http://schemas.openxmlformats.org/drawingml/2006/main" name="PineVTI">
  <a:themeElements>
    <a:clrScheme name="Pine">
      <a:dk1>
        <a:sysClr val="windowText" lastClr="000000"/>
      </a:dk1>
      <a:lt1>
        <a:sysClr val="window" lastClr="FFFFFF"/>
      </a:lt1>
      <a:dk2>
        <a:srgbClr val="081B19"/>
      </a:dk2>
      <a:lt2>
        <a:srgbClr val="E2D4CA"/>
      </a:lt2>
      <a:accent1>
        <a:srgbClr val="415347"/>
      </a:accent1>
      <a:accent2>
        <a:srgbClr val="753E33"/>
      </a:accent2>
      <a:accent3>
        <a:srgbClr val="7B614F"/>
      </a:accent3>
      <a:accent4>
        <a:srgbClr val="827B6D"/>
      </a:accent4>
      <a:accent5>
        <a:srgbClr val="495255"/>
      </a:accent5>
      <a:accent6>
        <a:srgbClr val="2D5358"/>
      </a:accent6>
      <a:hlink>
        <a:srgbClr val="A8705D"/>
      </a:hlink>
      <a:folHlink>
        <a:srgbClr val="5B688B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ne_Win32_JB_SL_v2.potx" id="{3FE2ADD4-A665-4FB8-B8C0-7CA1C57550A1}" vid="{0ED6AE89-9D72-42A2-A52F-A4B3C658EF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0CC34A-D535-41BC-8B48-A0E1EA32D7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506F55-A469-454B-8FCA-6F8BCF9DAA6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90CBB4-731C-4440-BC54-D2076F57C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Pine design</Template>
  <TotalTime>5016</TotalTime>
  <Words>514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Dante</vt:lpstr>
      <vt:lpstr>PineVTI</vt:lpstr>
      <vt:lpstr>Anomaly Detection in Human Vitals Using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</dc:creator>
  <cp:lastModifiedBy>Eswar Surya</cp:lastModifiedBy>
  <cp:revision>21</cp:revision>
  <dcterms:created xsi:type="dcterms:W3CDTF">2025-12-31T00:33:38Z</dcterms:created>
  <dcterms:modified xsi:type="dcterms:W3CDTF">2026-01-05T10:59:38Z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